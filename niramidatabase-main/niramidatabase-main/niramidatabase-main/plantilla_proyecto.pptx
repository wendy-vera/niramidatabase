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38" r:id="rId3"/>
    <p:sldId id="535" r:id="rId4"/>
    <p:sldId id="541" r:id="rId5"/>
    <p:sldId id="537" r:id="rId6"/>
    <p:sldId id="536" r:id="rId7"/>
    <p:sldId id="532" r:id="rId8"/>
    <p:sldId id="531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7"/>
    <p:restoredTop sz="97242"/>
  </p:normalViewPr>
  <p:slideViewPr>
    <p:cSldViewPr snapToGrid="0" showGuides="1">
      <p:cViewPr varScale="1">
        <p:scale>
          <a:sx n="72" d="100"/>
          <a:sy n="72" d="100"/>
        </p:scale>
        <p:origin x="1050" y="66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963672" y="2551837"/>
            <a:ext cx="6453678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CO" alt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Proyecto Final</a:t>
            </a:r>
            <a:endParaRPr kumimoji="0" lang="es-CO" alt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CO" alt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</a:rPr>
              <a:t>Nirami</a:t>
            </a:r>
            <a:endParaRPr kumimoji="0" lang="es-CO" alt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+mn-cs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9105900" y="4915707"/>
            <a:ext cx="1945270" cy="829034"/>
          </a:xfrm>
          <a:prstGeom prst="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/>
          <p:cNvSpPr txBox="1"/>
          <p:nvPr/>
        </p:nvSpPr>
        <p:spPr>
          <a:xfrm>
            <a:off x="9105900" y="4915707"/>
            <a:ext cx="1945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Work Sans Medium Roman" pitchFamily="2" charset="77"/>
              </a:rPr>
              <a:t>Marca externa</a:t>
            </a:r>
            <a:endParaRPr lang="es-CO" sz="1600" dirty="0">
              <a:latin typeface="Work Sans Medium Roman" pitchFamily="2" charset="77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9105900" y="5190743"/>
            <a:ext cx="1945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NOTA: </a:t>
            </a:r>
            <a:r>
              <a:rPr lang="es-ES_tradnl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tamaño del logo de la marca externa no debe superar el tamaño del logo SENA.</a:t>
            </a:r>
            <a:endParaRPr lang="es-ES_tradnl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664579" y="2238946"/>
            <a:ext cx="286284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</a:rPr>
              <a:t>Nirami</a:t>
            </a:r>
            <a:endParaRPr kumimoji="0" lang="es-CO" sz="6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Conector recto 2"/>
          <p:cNvCxnSpPr/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/>
          <p:cNvSpPr txBox="1"/>
          <p:nvPr/>
        </p:nvSpPr>
        <p:spPr>
          <a:xfrm>
            <a:off x="4168816" y="3463724"/>
            <a:ext cx="3854368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Nirami es una tienda de artesan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í</a:t>
            </a:r>
            <a:r>
              <a:rPr kumimoji="0" lang="en-US" alt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 hechas a mano. Los artesanos y vendedores no cuentan con una plataforma centralizada para publicar, gestionar y vender sus productos, lo que limita su alcance a clientes locales y dificulta el proceso de compra.</a:t>
            </a:r>
            <a:endParaRPr kumimoji="0" lang="en-US" alt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423628" y="3954050"/>
            <a:ext cx="5344743" cy="1418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n-US" altLang="es-MX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rPr>
              <a:t>Desarrollar una plataforma web para la venta de artesan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rPr>
              <a:t>í</a:t>
            </a:r>
            <a:r>
              <a:rPr lang="en-US" altLang="es-MX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rPr>
              <a:t>as hechas a mano que permita a clientes explorar y adquirir productos, a vendedores publicar y gestionar su cat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rPr>
              <a:t>á</a:t>
            </a:r>
            <a:r>
              <a:rPr lang="en-US" altLang="es-MX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rPr>
              <a:t>logo, y a administradores supervisar el sistema mediante roles diferenciados con control de acceso.</a:t>
            </a:r>
            <a:endParaRPr lang="en-US" altLang="es-MX" sz="16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130742" y="2502650"/>
            <a:ext cx="793051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s-MX" sz="7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</a:rPr>
              <a:t>Objetivo General</a:t>
            </a:r>
            <a:endParaRPr kumimoji="0" lang="en-US" altLang="es-MX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/>
          <p:nvPr/>
        </p:nvSpPr>
        <p:spPr>
          <a:xfrm>
            <a:off x="913586" y="872432"/>
            <a:ext cx="272355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MX" sz="3600" b="1" dirty="0">
                <a:solidFill>
                  <a:srgbClr val="38AA00"/>
                </a:solidFill>
                <a:latin typeface="Microsoft YaHei" panose="020B0503020204020204" charset="-122"/>
                <a:ea typeface="Microsoft YaHei" panose="020B0503020204020204" charset="-122"/>
              </a:rPr>
              <a:t>Objetivos Espec</a:t>
            </a:r>
            <a:r>
              <a:rPr lang="en-US" altLang="en-US" sz="3600" b="1" dirty="0">
                <a:solidFill>
                  <a:srgbClr val="38AA00"/>
                </a:solidFill>
                <a:latin typeface="Microsoft YaHei" panose="020B0503020204020204" charset="-122"/>
                <a:ea typeface="Microsoft YaHei" panose="020B0503020204020204" charset="-122"/>
              </a:rPr>
              <a:t>í</a:t>
            </a:r>
            <a:r>
              <a:rPr lang="en-US" altLang="es-MX" sz="3600" b="1" dirty="0">
                <a:solidFill>
                  <a:srgbClr val="38AA00"/>
                </a:solidFill>
                <a:latin typeface="Microsoft YaHei" panose="020B0503020204020204" charset="-122"/>
                <a:ea typeface="Microsoft YaHei" panose="020B0503020204020204" charset="-122"/>
              </a:rPr>
              <a:t>ficos</a:t>
            </a:r>
            <a:endParaRPr lang="en-US" altLang="es-MX" sz="3600" b="1" dirty="0">
              <a:solidFill>
                <a:srgbClr val="38AA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758190" y="2087880"/>
            <a:ext cx="482155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Implementar un sistema de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autenticaci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 con registro, inicio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n,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cierre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 seguro.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Permitir a los clientes navegar el cat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logo por categor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as, buscar productos, gestionar favoritos y realizar compras.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Habilitar a los vendedores para crear, editar sus propios productos.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Establecer un flujo de moderaci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 donde el administrador revisa, aprueba o rechaza productos antes de su publicaci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Proporcionar al administrador herramientas para gestionar usuarios, roles, productos, categor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as y consultar reportes de ventas.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Conector recto 3"/>
          <p:cNvCxnSpPr/>
          <p:nvPr/>
        </p:nvCxnSpPr>
        <p:spPr>
          <a:xfrm>
            <a:off x="913628" y="1818905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/>
          <a:srcRect l="13166" r="239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s-MX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</a:rPr>
              <a:t>Requerimientos</a:t>
            </a:r>
            <a:r>
              <a:rPr kumimoji="0" lang="es-ES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</a:rPr>
              <a:t> Funcionales</a:t>
            </a:r>
            <a:endParaRPr kumimoji="0" lang="es-ES" altLang="en-US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455930" y="1213485"/>
            <a:ext cx="566674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RF-01Registro de usuario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sistema provee un formulario en registro.jsp con campos: nombre, correo y 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a. Al registrarse, el usuario queda por defecto con rol Cliente.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RF-02Contrase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robusta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 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debe tener 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nimo 8 caracteres e incluir al menos un 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ú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mero. La validaci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se realiza en frontend y backend.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RF-03Inicio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sistema valida las credenciales ingresadas contra la base de datos mediante UsuarioDAO. Las 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 se comparan usando BCrypt.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RF-04Cierre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usuario puede cerrar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desde cualquier vista. La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HTTP activa se invalida inmediatamente.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RF-05Edici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de perfil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usuario puede actualizar su nombre, correo, direcci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y foto de perfil desde su panel personal.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RF-06Alertas temporales del sistemaEl sistema muestra notificaciones de alerta visibles temporalmente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s-CO" altLang="en-US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6249670" y="1213485"/>
            <a:ext cx="566674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Cliente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cliente puede navegar y buscar productos por categor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o nombre, gestionar sus favoritos y carrito de compras con c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lculo autom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tico de subtotal, IVA (19%) y total. Adem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 puede registrar, cancelar y consultar el historial de sus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rdenes.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Vendedor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vendedor puede crear productos (quedan en estado Pendiente), editarlos y gestionar su stock. Puede consultar el estado de moderaci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y observaciones del administrador sobre sus productos, ver el historial de ventas realizadas y los pagos generados.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Administrador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administrador gestiona usuarios (ver, editar, activar, desactivar y eliminar), roles, categor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 y productos. Puede aprobar, rechazar o enviar a correcci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productos con observaci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obligatoria al rechazar. Tambi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é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tiene acceso al listado completo de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rdenes y ventas del sistema.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s-MX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Requerimientos</a:t>
            </a:r>
            <a:r>
              <a:rPr lang="es-ES" altLang="en-US" sz="36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 no Funcionales</a:t>
            </a:r>
            <a:endParaRPr kumimoji="0" lang="es-ES" altLang="en-US" sz="3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altLang="en-US" sz="3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302895" y="1379855"/>
            <a:ext cx="587057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RNF-01Encriptaci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de 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Las contrase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ñ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 se almacenan con hash BCrypt (jBCrypt)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Nunca se guarda texto plano.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RNF-02Control de acceso por rol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sistema distingue tres roles: Cliente, Vendedor y Administrador. Cada rol accede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ú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nicamente a las vistas y funciones que le corresponden.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RNF-03Cierre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con invalidaci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Al cerrar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se invalida la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HTTP activa (session.invalidate()), impidiendo reutilizaci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RNF-04Bloqueo por intentos fallidos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Tras 5 intentos consecutivos de inicio de sesi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incorrectos, la cuenta queda bloqueada temporalmente. 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RNF-05Campo raz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de rechazo obligatorio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Al denegar un producto, el administrador debe ingresar obligatoriamente una observaci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en el campo razon_rechazo. No se puede rechazar sin justificaci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n.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Cuadro de texto 3"/>
          <p:cNvSpPr txBox="1"/>
          <p:nvPr/>
        </p:nvSpPr>
        <p:spPr>
          <a:xfrm>
            <a:off x="6242685" y="1379855"/>
            <a:ext cx="576199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RNF-06C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lculo preciso de totales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 subtotal, IVA (19 %) y total de compra se calculan usando DECIMAL(12,2) en base de datos y sin operaciones flotantes en capa de negocio, evitando errores de redondeo.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RNF-07C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digo modular por capasEl proyecto se organiza en capas separadas: Model, DAO, Servlet y Views. 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RNF-08Sistema operativo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Windows 11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RNF-09Dispositivo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PC de escritorio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RNF-10Navegador de pruebas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Microsoft Edge (versi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ó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á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 reciente)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RNF-11Servidor de aplicaciones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Apache Tomcat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RNF-12Motor de base de datosMySQL 8.0</a:t>
            </a: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b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RNF-13Lenguaje de backend</a:t>
            </a:r>
            <a:r>
              <a:rPr lang="es-CO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Java (Jakarta Servlets) con librer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í</a:t>
            </a:r>
            <a:r>
              <a:rPr lang="en-US" altLang="es-MX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jBCrypt para hashing</a:t>
            </a:r>
            <a:endParaRPr lang="en-US" altLang="es-MX" sz="16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4303</Words>
  <Application>WPS Presentation</Application>
  <PresentationFormat>Panorámica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Work Sans Medium Roman</vt:lpstr>
      <vt:lpstr>Segoe Print</vt:lpstr>
      <vt:lpstr>Calibri</vt:lpstr>
      <vt:lpstr>Arial Unicode MS</vt:lpstr>
      <vt:lpstr>Calibri Light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Usuario</cp:lastModifiedBy>
  <cp:revision>63</cp:revision>
  <dcterms:created xsi:type="dcterms:W3CDTF">2020-10-01T23:51:00Z</dcterms:created>
  <dcterms:modified xsi:type="dcterms:W3CDTF">2026-06-22T10:37:42Z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KSOProductBuildVer">
    <vt:lpwstr>2058-12.1.0.26880</vt:lpwstr>
  </property>
  <property fmtid="{D5CDD505-2E9C-101B-9397-08002B2CF9AE}" pid="10" name="ICV">
    <vt:lpwstr>641A2699C5744B20873A2ED0116FD247_13</vt:lpwstr>
  </property>
</Properties>
</file>